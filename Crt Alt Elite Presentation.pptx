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hyZa4XZMcX97RMERbuxIAuQvKq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31e4d9a4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731e4d9a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31e4d9a40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731e4d9a4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31e4d9a40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31e4d9a4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31e4d9a40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731e4d9a4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731e4d9a40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731e4d9a4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31e4d9a40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731e4d9a4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666666"/>
                </a:solidFill>
              </a:rPr>
              <a:t>File-Based Systems</a:t>
            </a:r>
            <a:endParaRPr b="1">
              <a:solidFill>
                <a:srgbClr val="666666"/>
              </a:solidFill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Group: Ctr Alt Elite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Due Date: 6 August 2025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Language: Python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731e4d9a40_0_0"/>
          <p:cNvSpPr txBox="1"/>
          <p:nvPr>
            <p:ph type="ctrTitle"/>
          </p:nvPr>
        </p:nvSpPr>
        <p:spPr>
          <a:xfrm>
            <a:off x="685800" y="1012275"/>
            <a:ext cx="7772400" cy="96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44">
                <a:solidFill>
                  <a:schemeClr val="lt1"/>
                </a:solidFill>
              </a:rPr>
              <a:t>A practical exploration of file-based data management limitations:</a:t>
            </a:r>
            <a:endParaRPr sz="4844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1" name="Google Shape;91;g3731e4d9a40_0_0"/>
          <p:cNvSpPr txBox="1"/>
          <p:nvPr>
            <p:ph idx="1" type="subTitle"/>
          </p:nvPr>
        </p:nvSpPr>
        <p:spPr>
          <a:xfrm>
            <a:off x="416525" y="2101175"/>
            <a:ext cx="8182800" cy="393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2500">
                <a:solidFill>
                  <a:schemeClr val="dk1"/>
                </a:solidFill>
              </a:rPr>
              <a:t>Focusing on data dependence and structural dependence challenges</a:t>
            </a:r>
            <a:endParaRPr sz="25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2500">
                <a:solidFill>
                  <a:schemeClr val="dk1"/>
                </a:solidFill>
              </a:rPr>
              <a:t>Using real-world demonstration of country/city dataset with thousands of records</a:t>
            </a:r>
            <a:endParaRPr sz="25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2500">
                <a:solidFill>
                  <a:schemeClr val="dk1"/>
                </a:solidFill>
              </a:rPr>
              <a:t>Objective is to compare early file systems and modern database capabilities</a:t>
            </a:r>
            <a:endParaRPr sz="2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descr="perry the platypus from phineas and ferb is standing in front of a building (Provided by Tenor)" id="92" name="Google Shape;92;g3731e4d9a40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9150" y="4906775"/>
            <a:ext cx="3176275" cy="17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31e4d9a40_0_31"/>
          <p:cNvSpPr txBox="1"/>
          <p:nvPr>
            <p:ph type="ctrTitle"/>
          </p:nvPr>
        </p:nvSpPr>
        <p:spPr>
          <a:xfrm>
            <a:off x="617725" y="126525"/>
            <a:ext cx="77724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Why This Matters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8" name="Google Shape;98;g3731e4d9a40_0_31"/>
          <p:cNvSpPr txBox="1"/>
          <p:nvPr>
            <p:ph idx="1" type="subTitle"/>
          </p:nvPr>
        </p:nvSpPr>
        <p:spPr>
          <a:xfrm>
            <a:off x="379375" y="1536975"/>
            <a:ext cx="8482500" cy="4101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0000" lnSpcReduction="10000"/>
          </a:bodyPr>
          <a:lstStyle/>
          <a:p>
            <a:pPr indent="-37084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>
                <a:solidFill>
                  <a:schemeClr val="dk1"/>
                </a:solidFill>
              </a:rPr>
              <a:t>Appreciate the evolution from file-based systems to modern DBMS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7084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>
                <a:solidFill>
                  <a:schemeClr val="dk1"/>
                </a:solidFill>
              </a:rPr>
              <a:t>Understand why early systems were inflexible and maintenance-heavy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7084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>
                <a:solidFill>
                  <a:schemeClr val="dk1"/>
                </a:solidFill>
              </a:rPr>
              <a:t>Gain firsthand experience with the inefficiencies that databases solved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7084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>
                <a:solidFill>
                  <a:schemeClr val="dk1"/>
                </a:solidFill>
              </a:rPr>
              <a:t>Develop skills in file handling, data filtering, and programmatic data analysis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woman says &quot; this too is history &quot; in front of a blue backdrop (Provided by Tenor)" id="99" name="Google Shape;99;g3731e4d9a40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0550" y="4902750"/>
            <a:ext cx="4743450" cy="195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31e4d9a40_0_38"/>
          <p:cNvSpPr txBox="1"/>
          <p:nvPr>
            <p:ph type="ctrTitle"/>
          </p:nvPr>
        </p:nvSpPr>
        <p:spPr>
          <a:xfrm>
            <a:off x="841450" y="68175"/>
            <a:ext cx="77724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Our Approach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5" name="Google Shape;105;g3731e4d9a40_0_38"/>
          <p:cNvSpPr txBox="1"/>
          <p:nvPr>
            <p:ph idx="1" type="subTitle"/>
          </p:nvPr>
        </p:nvSpPr>
        <p:spPr>
          <a:xfrm>
            <a:off x="632300" y="1459150"/>
            <a:ext cx="8210100" cy="491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CSV file with country/city data (population, landmass, independence, languages, life expectancy)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Manual file parsing using basic Python functions (no pandas/external libraries)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Deliverable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8 real-world queries answered through programmatic logic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Focus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Demonstrate how simple database queries required complex programming solutions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>
            <p:ph type="title"/>
          </p:nvPr>
        </p:nvSpPr>
        <p:spPr>
          <a:xfrm>
            <a:off x="457200" y="3508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Reading and Preparing the Data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1" name="Google Shape;11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The program starts by attempting to read 'file.txt'. </a:t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It uses `with open()` to safely handle the file, skipping the first line (headers) using `next(file)`. </a:t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Each line is stripped and split into a list using commas. </a:t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A dictionary is created from each line with named keys like 'city', 'population', 'GNP', etc. </a:t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All dictionaries are stored in a list called `data`. </a:t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If the file is missing, a `FileNotFoundError` is caught.</a:t>
            </a:r>
            <a:endParaRPr sz="2200"/>
          </a:p>
        </p:txBody>
      </p:sp>
      <p:pic>
        <p:nvPicPr>
          <p:cNvPr descr="a cartoon of a man holding up a box with graphs and gears on it (Provided by Tenor)" id="112" name="Google Shape;11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4200" y="5233475"/>
            <a:ext cx="2259799" cy="162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Question A: Countries ending with 'a'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8" name="Google Shape;118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71379" lvl="0" marL="457200" rtl="0" algn="l">
              <a:spcBef>
                <a:spcPts val="320"/>
              </a:spcBef>
              <a:spcAft>
                <a:spcPts val="0"/>
              </a:spcAft>
              <a:buSzPts val="2248"/>
              <a:buChar char="•"/>
            </a:pPr>
            <a:r>
              <a:rPr lang="en-US" sz="2248"/>
              <a:t>This function creates a set of unique country names from the dataset and converts them to lowercase to ensure accurate comparisons. </a:t>
            </a:r>
            <a:endParaRPr sz="2248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2248"/>
          </a:p>
          <a:p>
            <a:pPr indent="-371379" lvl="0" marL="457200" rtl="0" algn="l">
              <a:spcBef>
                <a:spcPts val="320"/>
              </a:spcBef>
              <a:spcAft>
                <a:spcPts val="0"/>
              </a:spcAft>
              <a:buSzPts val="2248"/>
              <a:buChar char="•"/>
            </a:pPr>
            <a:r>
              <a:rPr lang="en-US" sz="2248"/>
              <a:t>It then checks each country name to see if it ends with the letter 'a' using the `endswith()` method and counts how many do. </a:t>
            </a:r>
            <a:endParaRPr sz="2248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rgbClr val="2E74B5"/>
              </a:buClr>
              <a:buSzPts val="3200"/>
              <a:buNone/>
            </a:pPr>
            <a:r>
              <a:t/>
            </a:r>
            <a:endParaRPr sz="2248"/>
          </a:p>
          <a:p>
            <a:pPr indent="-371379" lvl="0" marL="457200" rtl="0" algn="l">
              <a:spcBef>
                <a:spcPts val="320"/>
              </a:spcBef>
              <a:spcAft>
                <a:spcPts val="0"/>
              </a:spcAft>
              <a:buSzPts val="2248"/>
              <a:buChar char="•"/>
            </a:pPr>
            <a:r>
              <a:rPr lang="en-US" sz="2248"/>
              <a:t>The use of a set removes duplicates and ensures we only count unique countries.</a:t>
            </a:r>
            <a:endParaRPr sz="2248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rgbClr val="2E74B5"/>
              </a:buClr>
              <a:buSzPts val="3200"/>
              <a:buNone/>
            </a:pPr>
            <a:r>
              <a:t/>
            </a:r>
            <a:endParaRPr sz="2248"/>
          </a:p>
          <a:p>
            <a:pPr indent="-371379" lvl="0" marL="342900" rtl="0" algn="l">
              <a:spcBef>
                <a:spcPts val="320"/>
              </a:spcBef>
              <a:spcAft>
                <a:spcPts val="0"/>
              </a:spcAft>
              <a:buSzPts val="2248"/>
              <a:buChar char="•"/>
            </a:pPr>
            <a:r>
              <a:rPr lang="en-US" sz="2248"/>
              <a:t>Output: 82</a:t>
            </a:r>
            <a:endParaRPr sz="2248"/>
          </a:p>
        </p:txBody>
      </p:sp>
      <p:pic>
        <p:nvPicPr>
          <p:cNvPr descr="a black and white drawing of a globe in a circle . (Provided by Tenor)" id="119" name="Google Shape;119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5813" y="4992688"/>
            <a:ext cx="1133475" cy="113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-US" sz="355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Question B: Top 5 Cities by Population</a:t>
            </a:r>
            <a:endParaRPr sz="3559">
              <a:solidFill>
                <a:schemeClr val="lt1"/>
              </a:solidFill>
            </a:endParaRPr>
          </a:p>
        </p:txBody>
      </p:sp>
      <p:sp>
        <p:nvSpPr>
          <p:cNvPr id="125" name="Google Shape;125;p4"/>
          <p:cNvSpPr txBox="1"/>
          <p:nvPr>
            <p:ph idx="1" type="body"/>
          </p:nvPr>
        </p:nvSpPr>
        <p:spPr>
          <a:xfrm>
            <a:off x="457200" y="1173276"/>
            <a:ext cx="8229600" cy="49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21148" lvl="0" marL="342900" rtl="0" algn="l">
              <a:spcBef>
                <a:spcPts val="320"/>
              </a:spcBef>
              <a:spcAft>
                <a:spcPts val="0"/>
              </a:spcAft>
              <a:buSzPct val="72242"/>
              <a:buChar char="•"/>
            </a:pPr>
            <a:r>
              <a:rPr lang="en-US" sz="5043"/>
              <a:t>This function sorts all cities in descending order by population. </a:t>
            </a:r>
            <a:endParaRPr sz="5043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5043"/>
          </a:p>
          <a:p>
            <a:pPr indent="-321148" lvl="0" marL="342900" rtl="0" algn="l">
              <a:spcBef>
                <a:spcPts val="320"/>
              </a:spcBef>
              <a:spcAft>
                <a:spcPts val="0"/>
              </a:spcAft>
              <a:buSzPct val="72242"/>
              <a:buChar char="•"/>
            </a:pPr>
            <a:r>
              <a:rPr lang="en-US" sz="5043"/>
              <a:t>It converts the population values from strings to integers using the `to_int()` helper function to ensure proper numeric sorting. </a:t>
            </a:r>
            <a:endParaRPr sz="5043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5043"/>
          </a:p>
          <a:p>
            <a:pPr indent="-321148" lvl="0" marL="342900" rtl="0" algn="l">
              <a:spcBef>
                <a:spcPts val="320"/>
              </a:spcBef>
              <a:spcAft>
                <a:spcPts val="0"/>
              </a:spcAft>
              <a:buSzPct val="72242"/>
              <a:buChar char="•"/>
            </a:pPr>
            <a:r>
              <a:rPr lang="en-US" sz="5043"/>
              <a:t>Next it iterates over the sorted data and uses a set called `seen` to avoid repeating cities. </a:t>
            </a:r>
            <a:endParaRPr sz="5043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5043"/>
          </a:p>
          <a:p>
            <a:pPr indent="-321148" lvl="0" marL="342900" rtl="0" algn="l">
              <a:spcBef>
                <a:spcPts val="320"/>
              </a:spcBef>
              <a:spcAft>
                <a:spcPts val="0"/>
              </a:spcAft>
              <a:buSzPct val="72242"/>
              <a:buChar char="•"/>
            </a:pPr>
            <a:r>
              <a:rPr lang="en-US" sz="5043"/>
              <a:t>The top 5 cities are collected and returned in formatted strings showing their names and populations.</a:t>
            </a:r>
            <a:endParaRPr sz="5043"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5043"/>
          </a:p>
          <a:p>
            <a:pPr indent="-299212" lvl="0" marL="342900" rtl="0" algn="l">
              <a:spcBef>
                <a:spcPts val="320"/>
              </a:spcBef>
              <a:spcAft>
                <a:spcPts val="0"/>
              </a:spcAft>
              <a:buSzPct val="66507"/>
              <a:buChar char="•"/>
            </a:pPr>
            <a:r>
              <a:rPr lang="en-US" sz="4180"/>
              <a:t>Output:</a:t>
            </a:r>
            <a:endParaRPr sz="418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4180"/>
              <a:t>Mumbai (Bombay): 10500000</a:t>
            </a:r>
            <a:endParaRPr sz="418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4180"/>
              <a:t>Seoul: 9981619</a:t>
            </a:r>
            <a:endParaRPr sz="418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4180"/>
              <a:t>São Paulo: 9968485</a:t>
            </a:r>
            <a:endParaRPr sz="418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4180"/>
              <a:t>Shanghai: 9696300</a:t>
            </a:r>
            <a:endParaRPr sz="418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4180"/>
              <a:t>Jakarta: 9604900</a:t>
            </a:r>
            <a:endParaRPr sz="4180"/>
          </a:p>
        </p:txBody>
      </p:sp>
      <p:pic>
        <p:nvPicPr>
          <p:cNvPr descr="a group of people holding hands in a circle with a white background (Provided by Tenor)" id="126" name="Google Shape;126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0875" y="3754875"/>
            <a:ext cx="3103125" cy="310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Question C: Top 5 Countries by LandMass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2" name="Google Shape;132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70954" lvl="0" marL="342900" rtl="0" algn="l">
              <a:spcBef>
                <a:spcPts val="320"/>
              </a:spcBef>
              <a:spcAft>
                <a:spcPts val="0"/>
              </a:spcAft>
              <a:buSzPts val="2242"/>
              <a:buChar char="•"/>
            </a:pPr>
            <a:r>
              <a:rPr lang="en-US" sz="2241"/>
              <a:t>Similar to question B, this function sorts the dataset by land mass in descending order. </a:t>
            </a:r>
            <a:endParaRPr sz="2241"/>
          </a:p>
          <a:p>
            <a:pPr indent="0" lvl="0" marL="34290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2241"/>
          </a:p>
          <a:p>
            <a:pPr indent="-370954" lvl="0" marL="342900" rtl="0" algn="l">
              <a:spcBef>
                <a:spcPts val="320"/>
              </a:spcBef>
              <a:spcAft>
                <a:spcPts val="0"/>
              </a:spcAft>
              <a:buSzPts val="2242"/>
              <a:buChar char="•"/>
            </a:pPr>
            <a:r>
              <a:rPr lang="en-US" sz="2241"/>
              <a:t>It uses the `to_float()` helper to ensure numerical accuracy when sorting string values. </a:t>
            </a:r>
            <a:endParaRPr sz="2241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2241"/>
          </a:p>
          <a:p>
            <a:pPr indent="-370954" lvl="0" marL="342900" rtl="0" algn="l">
              <a:spcBef>
                <a:spcPts val="320"/>
              </a:spcBef>
              <a:spcAft>
                <a:spcPts val="0"/>
              </a:spcAft>
              <a:buSzPts val="2242"/>
              <a:buChar char="•"/>
            </a:pPr>
            <a:r>
              <a:rPr lang="en-US" sz="2241"/>
              <a:t>Duplicates are handled by tracking country names in a `seen` set. </a:t>
            </a:r>
            <a:endParaRPr sz="2241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2241"/>
          </a:p>
          <a:p>
            <a:pPr indent="-346075" lvl="0" marL="342900" rtl="0" algn="l">
              <a:spcBef>
                <a:spcPts val="320"/>
              </a:spcBef>
              <a:spcAft>
                <a:spcPts val="0"/>
              </a:spcAft>
              <a:buSzPts val="1850"/>
              <a:buChar char="•"/>
            </a:pPr>
            <a:r>
              <a:rPr lang="en-US" sz="1850"/>
              <a:t>Output:</a:t>
            </a:r>
            <a:endParaRPr sz="185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1850"/>
              <a:t>Russian Federation: 17075400.0</a:t>
            </a:r>
            <a:endParaRPr sz="185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1850"/>
              <a:t>Canada: 9970610.0</a:t>
            </a:r>
            <a:endParaRPr sz="185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1850"/>
              <a:t>China: 9572900.0</a:t>
            </a:r>
            <a:endParaRPr sz="185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1850"/>
              <a:t>United States: 9363520.0</a:t>
            </a:r>
            <a:endParaRPr sz="185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1850"/>
              <a:t>Brazil: 8547403.0</a:t>
            </a:r>
            <a:endParaRPr sz="18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Question D &amp; E : Independence 1960-1980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8" name="Google Shape;138;p6"/>
          <p:cNvSpPr txBox="1"/>
          <p:nvPr>
            <p:ph idx="1" type="body"/>
          </p:nvPr>
        </p:nvSpPr>
        <p:spPr>
          <a:xfrm>
            <a:off x="457200" y="1600200"/>
            <a:ext cx="393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342900" rtl="0" algn="ctr">
              <a:spcBef>
                <a:spcPts val="320"/>
              </a:spcBef>
              <a:spcAft>
                <a:spcPts val="0"/>
              </a:spcAft>
              <a:buNone/>
            </a:pPr>
            <a:r>
              <a:rPr b="1" lang="en-US" sz="2275"/>
              <a:t>1960-1980</a:t>
            </a:r>
            <a:endParaRPr b="1" sz="2275"/>
          </a:p>
          <a:p>
            <a:pPr indent="-340591" lvl="0" marL="342900" rtl="0" algn="l">
              <a:spcBef>
                <a:spcPts val="320"/>
              </a:spcBef>
              <a:spcAft>
                <a:spcPts val="0"/>
              </a:spcAft>
              <a:buSzPct val="100000"/>
              <a:buChar char="•"/>
            </a:pPr>
            <a:r>
              <a:rPr lang="en-US" sz="2275"/>
              <a:t>This function filters countries based on their year of independence. </a:t>
            </a:r>
            <a:endParaRPr sz="2275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2275"/>
          </a:p>
          <a:p>
            <a:pPr indent="-340591" lvl="0" marL="342900" rtl="0" algn="l">
              <a:spcBef>
                <a:spcPts val="320"/>
              </a:spcBef>
              <a:spcAft>
                <a:spcPts val="0"/>
              </a:spcAft>
              <a:buSzPct val="100000"/>
              <a:buChar char="•"/>
            </a:pPr>
            <a:r>
              <a:rPr lang="en-US" sz="2275"/>
              <a:t>It uses `isdigit()` to ensure the year is valid.</a:t>
            </a:r>
            <a:endParaRPr sz="2275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2275"/>
          </a:p>
          <a:p>
            <a:pPr indent="-340591" lvl="0" marL="342900" rtl="0" algn="l">
              <a:spcBef>
                <a:spcPts val="320"/>
              </a:spcBef>
              <a:spcAft>
                <a:spcPts val="0"/>
              </a:spcAft>
              <a:buSzPct val="100000"/>
              <a:buChar char="•"/>
            </a:pPr>
            <a:r>
              <a:rPr lang="en-US" sz="2275"/>
              <a:t>Then checks whether it falls between 1960 and 1980 inclusive.</a:t>
            </a:r>
            <a:endParaRPr sz="2275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275"/>
          </a:p>
          <a:p>
            <a:pPr indent="-340591" lvl="0" marL="342900" rtl="0" algn="l">
              <a:spcBef>
                <a:spcPts val="320"/>
              </a:spcBef>
              <a:spcAft>
                <a:spcPts val="0"/>
              </a:spcAft>
              <a:buSzPct val="100000"/>
              <a:buChar char="•"/>
            </a:pPr>
            <a:r>
              <a:rPr lang="en-US" sz="2275"/>
              <a:t>All qualifying country names are added to a set to avoid duplicates, and the total count is returned.</a:t>
            </a:r>
            <a:endParaRPr sz="2275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275"/>
          </a:p>
          <a:p>
            <a:pPr indent="-340591" lvl="0" marL="342900" rtl="0" algn="l">
              <a:spcBef>
                <a:spcPts val="320"/>
              </a:spcBef>
              <a:spcAft>
                <a:spcPts val="0"/>
              </a:spcAft>
              <a:buSzPct val="100000"/>
              <a:buChar char="•"/>
            </a:pPr>
            <a:r>
              <a:rPr lang="en-US" sz="2275"/>
              <a:t>Output:</a:t>
            </a:r>
            <a:endParaRPr sz="2275"/>
          </a:p>
          <a:p>
            <a:pPr indent="0" lvl="0" marL="342900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2275"/>
              <a:t>Count: 68</a:t>
            </a:r>
            <a:endParaRPr sz="2275"/>
          </a:p>
        </p:txBody>
      </p:sp>
      <p:sp>
        <p:nvSpPr>
          <p:cNvPr id="139" name="Google Shape;139;p6"/>
          <p:cNvSpPr txBox="1"/>
          <p:nvPr/>
        </p:nvSpPr>
        <p:spPr>
          <a:xfrm>
            <a:off x="5068100" y="1663425"/>
            <a:ext cx="3165300" cy="44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42900" rtl="0" algn="ctr">
              <a:spcBef>
                <a:spcPts val="32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1930-1950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ctr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Builds a set of country names meeting the condition and returns them sorted alphabetically and formatted as a comma-separated string.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Belgium, Dominican Republic, El Salvador, Greece, Honduras, Liberia, Nicaragua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Question F: African Countries with Highest Life Expectancy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5" name="Google Shape;145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2737" lvl="0" marL="342900" rtl="0" algn="l">
              <a:spcBef>
                <a:spcPts val="320"/>
              </a:spcBef>
              <a:spcAft>
                <a:spcPts val="0"/>
              </a:spcAft>
              <a:buSzPct val="60227"/>
              <a:buChar char="•"/>
            </a:pPr>
            <a:r>
              <a:rPr lang="en-US" sz="3520"/>
              <a:t>This function filters the dataset to include only rows where the continent is 'Africa'. </a:t>
            </a:r>
            <a:endParaRPr sz="352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3520"/>
          </a:p>
          <a:p>
            <a:pPr indent="-312737" lvl="0" marL="342900" rtl="0" algn="l">
              <a:spcBef>
                <a:spcPts val="320"/>
              </a:spcBef>
              <a:spcAft>
                <a:spcPts val="0"/>
              </a:spcAft>
              <a:buSzPct val="60227"/>
              <a:buChar char="•"/>
            </a:pPr>
            <a:r>
              <a:rPr lang="en-US" sz="3520"/>
              <a:t>It then sorts those by life expectancy (converted to float) in descending order. </a:t>
            </a:r>
            <a:endParaRPr sz="352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3520"/>
          </a:p>
          <a:p>
            <a:pPr indent="-312737" lvl="0" marL="342900" rtl="0" algn="l">
              <a:spcBef>
                <a:spcPts val="320"/>
              </a:spcBef>
              <a:spcAft>
                <a:spcPts val="0"/>
              </a:spcAft>
              <a:buSzPct val="60227"/>
              <a:buChar char="•"/>
            </a:pPr>
            <a:r>
              <a:rPr lang="en-US" sz="3520"/>
              <a:t>It tracks the countries already included using a set to avoid duplicates and returns the top five.</a:t>
            </a:r>
            <a:endParaRPr sz="3520"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5379" lvl="0" marL="342900" rtl="0" algn="l">
              <a:spcBef>
                <a:spcPts val="320"/>
              </a:spcBef>
              <a:spcAft>
                <a:spcPts val="0"/>
              </a:spcAft>
              <a:buSzPct val="100000"/>
              <a:buChar char="•"/>
            </a:pPr>
            <a:r>
              <a:rPr lang="en-US" sz="2690"/>
              <a:t>Output:</a:t>
            </a:r>
            <a:endParaRPr sz="269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2690"/>
              <a:t>Saint Helena: 76.8</a:t>
            </a:r>
            <a:endParaRPr sz="269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2690"/>
              <a:t>Libyan Arab Jamahiriya: 75.5</a:t>
            </a:r>
            <a:endParaRPr sz="269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2690"/>
              <a:t>Tunisia: 73.7</a:t>
            </a:r>
            <a:endParaRPr sz="269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2690"/>
              <a:t>Réunion: 72.7</a:t>
            </a:r>
            <a:endParaRPr sz="269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2690"/>
              <a:t>Mauritius: 71.0</a:t>
            </a:r>
            <a:endParaRPr sz="2690"/>
          </a:p>
        </p:txBody>
      </p:sp>
      <p:pic>
        <p:nvPicPr>
          <p:cNvPr descr="a group of elderly people are dancing in a living room . (Provided by Tenor)" id="146" name="Google Shape;14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8375" y="4450775"/>
            <a:ext cx="3928151" cy="220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Question G: Languages by Estimated Speakers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2" name="Google Shape;152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10000"/>
          </a:bodyPr>
          <a:lstStyle/>
          <a:p>
            <a:pPr indent="-300037" lvl="0" marL="342900" rtl="0" algn="l">
              <a:spcBef>
                <a:spcPts val="32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This function calculates the estimated number of speakers for each language.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0037" lvl="0" marL="342900" rtl="0" algn="l">
              <a:spcBef>
                <a:spcPts val="32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It multiplies each country’s population by the percentage of people speaking the language, converting both values to numeric form.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0037" lvl="0" marL="342900" rtl="0" algn="l">
              <a:spcBef>
                <a:spcPts val="32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It accumulates these per language using a dictionary and then returns the top 5 languages by total estimated speakers.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2921" lvl="0" marL="342900" rtl="0" algn="l">
              <a:spcBef>
                <a:spcPts val="320"/>
              </a:spcBef>
              <a:spcAft>
                <a:spcPts val="0"/>
              </a:spcAft>
              <a:buSzPct val="100000"/>
              <a:buChar char="•"/>
            </a:pPr>
            <a:r>
              <a:rPr lang="en-US" sz="2628"/>
              <a:t>Output:</a:t>
            </a:r>
            <a:endParaRPr sz="2628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2628"/>
              <a:t>Chinese: 1,189,062,904 estimated speakers</a:t>
            </a:r>
            <a:endParaRPr sz="2628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2628"/>
              <a:t>Hindi: 405,633,069 estimated speakers</a:t>
            </a:r>
            <a:endParaRPr sz="2628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2628"/>
              <a:t>Spanish: 354,799,064 estimated speakers</a:t>
            </a:r>
            <a:endParaRPr sz="2628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2628"/>
              <a:t>English: 312,497,762 estimated speakers</a:t>
            </a:r>
            <a:endParaRPr sz="2628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2628"/>
              <a:t>Arabic: 233,486,554 estimated speakers</a:t>
            </a:r>
            <a:endParaRPr sz="2628"/>
          </a:p>
        </p:txBody>
      </p:sp>
      <p:pic>
        <p:nvPicPr>
          <p:cNvPr descr="a picture of a red haired anime character with the words &quot; you cant speak your native language &quot; (Provided by Tenor)" id="153" name="Google Shape;15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7075" y="4470225"/>
            <a:ext cx="2848374" cy="226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Question H: Unique Countries Ending in 'a'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9" name="Google Shape;159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342900" rtl="0" algn="l">
              <a:spcBef>
                <a:spcPts val="32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This function collects all countries from the dataset that end with the letter 'a’. </a:t>
            </a:r>
            <a:endParaRPr sz="22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342900" rtl="0" algn="l">
              <a:spcBef>
                <a:spcPts val="32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It uses a set to ensure each country is only listed once. </a:t>
            </a:r>
            <a:endParaRPr sz="22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342900" rtl="0" algn="l">
              <a:spcBef>
                <a:spcPts val="32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The final result is a sorted, comma-separated string of these country names.</a:t>
            </a:r>
            <a:endParaRPr sz="2200"/>
          </a:p>
          <a:p>
            <a:pPr indent="0" lvl="0" marL="34290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342900" rtl="0" algn="l">
              <a:spcBef>
                <a:spcPts val="32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Output: Included many countries.</a:t>
            </a:r>
            <a:endParaRPr sz="2200"/>
          </a:p>
          <a:p>
            <a:pPr indent="0" lvl="0" marL="34290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globe filled with flags from different countries and the word presenter on the bottom (Provided by Tenor)" id="160" name="Google Shape;16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7175" y="4589425"/>
            <a:ext cx="2095500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Writing the Answers to Output File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6" name="Google Shape;166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32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All the answer functions are stored in a list called `questions` with labels. </a:t>
            </a:r>
            <a:endParaRPr sz="22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32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The code then opens 'file2.txt' in write mode and loops through each question-answer pair, writing them to the file. </a:t>
            </a:r>
            <a:endParaRPr sz="22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32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This stores all results in a structured format. </a:t>
            </a:r>
            <a:endParaRPr sz="22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32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The program ends by printing a message indicating successful completion.</a:t>
            </a:r>
            <a:endParaRPr sz="2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31e4d9a40_0_5"/>
          <p:cNvSpPr txBox="1"/>
          <p:nvPr>
            <p:ph type="title"/>
          </p:nvPr>
        </p:nvSpPr>
        <p:spPr>
          <a:xfrm>
            <a:off x="457200" y="-44862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Critical Insights Gained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2" name="Google Shape;172;g3731e4d9a40_0_5"/>
          <p:cNvSpPr txBox="1"/>
          <p:nvPr>
            <p:ph idx="1" type="body"/>
          </p:nvPr>
        </p:nvSpPr>
        <p:spPr>
          <a:xfrm>
            <a:off x="535025" y="1696575"/>
            <a:ext cx="7850100" cy="4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Structural Dependence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: File format changes break entire applications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Data Dependence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: Adding fields requires manual code updates throughout system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Maintenance Burden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: Simple queries demand hundreds of lines of error-prone code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Modern Solution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: SQL accomplishes the same tasks in just a few declarative statements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row of error messages with a button that says ok (Provided by Tenor)" id="173" name="Google Shape;173;g3731e4d9a40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8215" y="0"/>
            <a:ext cx="1175785" cy="109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31e4d9a40_0_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What We Demonstrated</a:t>
            </a:r>
            <a:endParaRPr b="1"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9" name="Google Shape;179;g3731e4d9a40_0_1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Successfully implemented 8 complex queries using only basic Python file operations</a:t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Experienced firsthand the rigidity of structural and data dependence</a:t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Highlighted how simple data changes require extensive code modifications</a:t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Showed the manual effort required for basic data operations</a:t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31e4d9a40_0_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Why This Exercise Matters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5" name="Google Shape;185;g3731e4d9a40_0_4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Historical Perspective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: Understanding the problems that drove database innovation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Technical Skills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: Enhanced file handling, data filtering, and programming logic abilities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Design Appreciation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: Recognition of how DBMS eliminated dependencies and improved flexibility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Professional Context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: Better understanding of fundamental data management principles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Contributors</a:t>
            </a:r>
            <a:endParaRPr/>
          </a:p>
        </p:txBody>
      </p:sp>
      <p:sp>
        <p:nvSpPr>
          <p:cNvPr id="191" name="Google Shape;191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E74B5"/>
              </a:buClr>
              <a:buSzPts val="1600"/>
              <a:buChar char="•"/>
            </a:pPr>
            <a:r>
              <a:rPr lang="en-US"/>
              <a:t>Group Members: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rgbClr val="2E74B5"/>
              </a:buClr>
              <a:buSzPts val="1600"/>
              <a:buChar char="•"/>
            </a:pPr>
            <a:r>
              <a:rPr lang="en-US"/>
              <a:t>• Skye Jones (Group Leader)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rgbClr val="2E74B5"/>
              </a:buClr>
              <a:buSzPts val="1600"/>
              <a:buChar char="•"/>
            </a:pPr>
            <a:r>
              <a:rPr lang="en-US"/>
              <a:t>• Jean-Jacques van Schalkwyk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rgbClr val="2E74B5"/>
              </a:buClr>
              <a:buSzPts val="1600"/>
              <a:buChar char="•"/>
            </a:pPr>
            <a:r>
              <a:rPr lang="en-US"/>
              <a:t>• Kaamiel Isaacs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rgbClr val="2E74B5"/>
              </a:buClr>
              <a:buSzPts val="1600"/>
              <a:buChar char="•"/>
            </a:pPr>
            <a:r>
              <a:rPr lang="en-US"/>
              <a:t>• Thaakirah Mosoval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rgbClr val="2E74B5"/>
              </a:buClr>
              <a:buSzPts val="1600"/>
              <a:buChar char="•"/>
            </a:pPr>
            <a:r>
              <a:rPr lang="en-US"/>
              <a:t>• Uwais Cornelius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User</dc:creator>
</cp:coreProperties>
</file>